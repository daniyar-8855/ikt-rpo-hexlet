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288D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288D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288D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288D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DCD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3.png"/><Relationship Id="rId18" Type="http://schemas.openxmlformats.org/officeDocument/2006/relationships/image" Target="../media/image-7-14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tou.edu.kz/arm/upload/umk_pdf/58575.pdf" TargetMode="External"/><Relationship Id="rId2" Type="http://schemas.openxmlformats.org/officeDocument/2006/relationships/hyperlink" Target="https://lib.kpvk.edu.kz/wp-content/uploads/2022/03/61934_2771122059278ce139b6aee34d85b0bf.pdf" TargetMode="External"/><Relationship Id="rId3" Type="http://schemas.openxmlformats.org/officeDocument/2006/relationships/hyperlink" Target="https://texterra.ru/blog/polnoe-rukovodstvo-po-google-docs.html" TargetMode="External"/><Relationship Id="rId4" Type="http://schemas.openxmlformats.org/officeDocument/2006/relationships/hyperlink" Target="https://skillbox.ru/media/management/kak-rabotat-v-google-docs-bolshaya-podborka-instruktsiy-so-skrinshotami/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01217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Освоение текстовых редакторов: Microsoft Word и Google Docs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749897"/>
            <a:ext cx="472276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Добро пожаловать на практическое занятие по текстовым редакторам! Сегодня мы научимся уверенно работать в Microsoft Word и Google Docs — двух самых популярных инструментах для создания документов. Вы освоите все необходимые навыки для оформления учебных работ, курсовых проектов и профессиональных документов.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4618"/>
            <a:ext cx="1125066" cy="233214"/>
          </a:xfrm>
          <a:prstGeom prst="roundRect">
            <a:avLst>
              <a:gd name="adj" fmla="val 63828"/>
            </a:avLst>
          </a:prstGeom>
          <a:solidFill>
            <a:srgbClr val="EFD8F3"/>
          </a:solidFill>
          <a:ln/>
        </p:spPr>
      </p:sp>
      <p:sp>
        <p:nvSpPr>
          <p:cNvPr id="3" name="Shape 1"/>
          <p:cNvSpPr/>
          <p:nvPr/>
        </p:nvSpPr>
        <p:spPr>
          <a:xfrm>
            <a:off x="570533" y="461590"/>
            <a:ext cx="99194" cy="99194"/>
          </a:xfrm>
          <a:prstGeom prst="rect">
            <a:avLst/>
          </a:prstGeom>
          <a:solidFill>
            <a:srgbClr val="2A2742"/>
          </a:solidFill>
          <a:ln/>
        </p:spPr>
      </p:sp>
      <p:sp>
        <p:nvSpPr>
          <p:cNvPr id="4" name="Text 2"/>
          <p:cNvSpPr/>
          <p:nvPr/>
        </p:nvSpPr>
        <p:spPr>
          <a:xfrm>
            <a:off x="719286" y="431825"/>
            <a:ext cx="128468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ЦЕЛИ ОБУЧЕНИЯ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677391"/>
            <a:ext cx="577348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Чему мы научимся на этом занятии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96119" y="1250975"/>
            <a:ext cx="4013895" cy="1418704"/>
          </a:xfrm>
          <a:prstGeom prst="roundRect">
            <a:avLst>
              <a:gd name="adj" fmla="val 13115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5240" dir="2700000">
              <a:srgbClr val="d4cece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4855" y="1379711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BB5BC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174" y="1481956"/>
            <a:ext cx="167432" cy="1674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4855" y="1875755"/>
            <a:ext cx="16498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Создание документов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4855" y="2144018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Научитесь запускать редакторы, создавать, сохранять и открывать документы в различных форматах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33987" y="1250975"/>
            <a:ext cx="4013895" cy="1418704"/>
          </a:xfrm>
          <a:prstGeom prst="roundRect">
            <a:avLst>
              <a:gd name="adj" fmla="val 13115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5240" dir="2700000">
              <a:srgbClr val="d4cece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62723" y="1379711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BB5BC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043" y="1481956"/>
            <a:ext cx="167432" cy="1674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62723" y="1875755"/>
            <a:ext cx="175840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Редактирование текста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62723" y="2144018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Освоите базовые операции: ввод, удаление, копирование, вставку и отмену действий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96119" y="2793653"/>
            <a:ext cx="4013895" cy="1418704"/>
          </a:xfrm>
          <a:prstGeom prst="roundRect">
            <a:avLst>
              <a:gd name="adj" fmla="val 13115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5240" dir="2700000">
              <a:srgbClr val="d4cece">
                <a:alpha val="10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4855" y="292238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BB5BC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174" y="3024634"/>
            <a:ext cx="167432" cy="1674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4855" y="341843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Форматирование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4855" y="3686696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Научитесь работать со шрифтами, абзацами, полями, списками и заголовками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33987" y="2793653"/>
            <a:ext cx="4013895" cy="1418704"/>
          </a:xfrm>
          <a:prstGeom prst="roundRect">
            <a:avLst>
              <a:gd name="adj" fmla="val 13115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5240" dir="2700000">
              <a:srgbClr val="d4cece">
                <a:alpha val="10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62723" y="292238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BB5BC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5043" y="3024634"/>
            <a:ext cx="167432" cy="1674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62723" y="341843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Вставка элементов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62723" y="3686696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Научитесь добавлять и оформлять изображения, таблицы и другие объекты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96119" y="435188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Наша главная цель — сформировать у вас навыки создания, редактирования и форматирования документов в текстовых редакторах Microsoft Word и Google Docs, включая работу с абзацами, списками, таблицами, изображениями, стилями и сохранением документов.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74675"/>
            <a:ext cx="496386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Нормативная База Республики Казахстан</a:t>
            </a: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3925119" y="808434"/>
            <a:ext cx="47227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 профессиональной деятельности важно не только уметь создавать документы, но и оформлять их </a:t>
            </a:r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 соответствии с законодательством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Знание нормативной базы обеспечивает профессионализм и соответствие требованиям.</a:t>
            </a:r>
            <a:endParaRPr lang="en-US" sz="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437382"/>
            <a:ext cx="4722763" cy="83291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08921" y="1564035"/>
            <a:ext cx="241957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Текстовые Документы (Приказ №18)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108921" y="1800746"/>
            <a:ext cx="4412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Регламентирует требования к реквизитам, шрифтам, бланкам и общим правилам делопроизводства.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372171"/>
            <a:ext cx="4722763" cy="83291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08921" y="2498824"/>
            <a:ext cx="4042990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Отчетность в Excel (Закон «О государственной статистике»)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108921" y="2735535"/>
            <a:ext cx="4412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Определяет правила сбора, обработки и представления статистических данных, включая использование электронных таблиц.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306961"/>
            <a:ext cx="4722763" cy="83291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08921" y="3433614"/>
            <a:ext cx="3652242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Государственные Символы (Конституционный закон)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108921" y="3670325"/>
            <a:ext cx="4412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Регулирует использование Государственного Герба, Флага и Гимна Республики Казахстан в презентациях и официальных документах.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3925119" y="4254475"/>
            <a:ext cx="47227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Вывод:</a:t>
            </a:r>
            <a:pPr algn="l" indent="0" marL="0">
              <a:lnSpc>
                <a:spcPct val="127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Знание офисных программ дает вам умение работать с информацией. Знание нормативной базы РК позволяет делать это профессионально и юридически грамотно.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6280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99642"/>
            <a:ext cx="7073875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Эволюция Офисных Программ: От Десктопа к Облакам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239576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Мир офисных технологий претерпел значительные изменения. Если раньше доминировали настольные приложения, такие как Microsoft Office, то сегодня неоспоримым трендом являются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облачные решения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2932212"/>
            <a:ext cx="279053" cy="279053"/>
          </a:xfrm>
          <a:prstGeom prst="roundRect">
            <a:avLst>
              <a:gd name="adj" fmla="val 66679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5240" dir="2700000">
              <a:srgbClr val="d4cece">
                <a:alpha val="10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627" y="2978683"/>
            <a:ext cx="186035" cy="186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9145" y="2974851"/>
            <a:ext cx="30657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Совместная Работа в Реальном Времени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99145" y="3243114"/>
            <a:ext cx="359531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Несколько пользователей могут одновременно редактировать один документ, мгновенно видя изменения друг друга.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49465" y="2932212"/>
            <a:ext cx="279053" cy="279053"/>
          </a:xfrm>
          <a:prstGeom prst="roundRect">
            <a:avLst>
              <a:gd name="adj" fmla="val 66679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5240" dir="2700000">
              <a:srgbClr val="d4cece">
                <a:alpha val="10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5974" y="2978683"/>
            <a:ext cx="186035" cy="186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52492" y="2974851"/>
            <a:ext cx="255247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Доступность с Любого Устройства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052492" y="3243114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Файлы доступны из любой точки мира, где есть интернет, что обеспечивает максимальную гибкость.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96119" y="4086523"/>
            <a:ext cx="279053" cy="279053"/>
          </a:xfrm>
          <a:prstGeom prst="roundRect">
            <a:avLst>
              <a:gd name="adj" fmla="val 66679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5240" dir="2700000">
              <a:srgbClr val="d4cece">
                <a:alpha val="10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627" y="4132994"/>
            <a:ext cx="186035" cy="1860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9145" y="4129162"/>
            <a:ext cx="263396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Автосохранение и История Версий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99145" y="4397425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Риск потери данных минимизирован; всегда можно вернуться к любой предыдущей версии документа.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649465" y="4086523"/>
            <a:ext cx="279053" cy="279053"/>
          </a:xfrm>
          <a:prstGeom prst="roundRect">
            <a:avLst>
              <a:gd name="adj" fmla="val 66679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5240" dir="2700000">
              <a:srgbClr val="d4cece">
                <a:alpha val="10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5974" y="4132994"/>
            <a:ext cx="186035" cy="18603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52492" y="4129162"/>
            <a:ext cx="178244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Бесшовная Интеграция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052492" y="4397425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Облачные сервисы легко связываются друг с другом, создавая единую экосистему для работы.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3498949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Текстовые Редакторы: Структура и Автоматизация</a:t>
            </a:r>
            <a:endParaRPr lang="en-US" sz="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77453"/>
            <a:ext cx="3169965" cy="3169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22055" y="570533"/>
            <a:ext cx="483051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Современный текстовый редактор, будь то Word или Google Docs, — это не просто усовершенствованная пишущая машинка, а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мощный интеллектуальный инструмент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для создания хорошо структурированных и легко управляемых документов.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3822055" y="750168"/>
            <a:ext cx="1965052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Разделение Содержания и Оформления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822055" y="878012"/>
            <a:ext cx="483051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Ключевой принцип эффективной работы заключается в использовании встроенных инструментов, таких как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Стили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и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Оглавление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Они автоматически поддерживают целостность и единообразие документа, тогда как ручное форматирование часто приводит к непоследовательности и потере времени.</a:t>
            </a:r>
            <a:endParaRPr lang="en-US" sz="450" dirty="0"/>
          </a:p>
        </p:txBody>
      </p:sp>
      <p:sp>
        <p:nvSpPr>
          <p:cNvPr id="7" name="Text 4"/>
          <p:cNvSpPr/>
          <p:nvPr/>
        </p:nvSpPr>
        <p:spPr>
          <a:xfrm>
            <a:off x="3822055" y="1057647"/>
            <a:ext cx="12324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Стили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3822055" y="1185490"/>
            <a:ext cx="4830514" cy="22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Стили представляют собой предустановленные наборы параметров форматирования (шрифт, размер, выравнивание, интервалы). Применение стиля, например "Заголовок 1", гарантирует единообразие всех заголовков, автоматическое создание оглавления и возможность быстро изменять внешний вид всего документа, модифицируя лишь один стиль.</a:t>
            </a:r>
            <a:endParaRPr lang="en-US" sz="450" dirty="0"/>
          </a:p>
        </p:txBody>
      </p:sp>
      <p:sp>
        <p:nvSpPr>
          <p:cNvPr id="9" name="Text 6"/>
          <p:cNvSpPr/>
          <p:nvPr/>
        </p:nvSpPr>
        <p:spPr>
          <a:xfrm>
            <a:off x="496119" y="3828752"/>
            <a:ext cx="176361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Структурные Элементы Документа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4567238" y="3972148"/>
            <a:ext cx="9525" cy="1117104"/>
          </a:xfrm>
          <a:prstGeom prst="roundRect">
            <a:avLst>
              <a:gd name="adj" fmla="val 976746"/>
            </a:avLst>
          </a:prstGeom>
          <a:solidFill>
            <a:srgbClr val="D4CECE"/>
          </a:solidFill>
          <a:ln/>
        </p:spPr>
      </p:sp>
      <p:sp>
        <p:nvSpPr>
          <p:cNvPr id="11" name="Shape 8"/>
          <p:cNvSpPr/>
          <p:nvPr/>
        </p:nvSpPr>
        <p:spPr>
          <a:xfrm>
            <a:off x="4457551" y="4037112"/>
            <a:ext cx="123974" cy="9525"/>
          </a:xfrm>
          <a:prstGeom prst="roundRect">
            <a:avLst>
              <a:gd name="adj" fmla="val 976746"/>
            </a:avLst>
          </a:prstGeom>
          <a:solidFill>
            <a:srgbClr val="D4CECE"/>
          </a:solidFill>
          <a:ln/>
        </p:spPr>
      </p:sp>
      <p:sp>
        <p:nvSpPr>
          <p:cNvPr id="12" name="Shape 9"/>
          <p:cNvSpPr/>
          <p:nvPr/>
        </p:nvSpPr>
        <p:spPr>
          <a:xfrm>
            <a:off x="4548746" y="4018620"/>
            <a:ext cx="46509" cy="46509"/>
          </a:xfrm>
          <a:prstGeom prst="roundRect">
            <a:avLst>
              <a:gd name="adj" fmla="val 614397"/>
            </a:avLst>
          </a:prstGeom>
          <a:solidFill>
            <a:srgbClr val="BB5BCE"/>
          </a:solidFill>
          <a:ln/>
        </p:spPr>
      </p:sp>
      <p:sp>
        <p:nvSpPr>
          <p:cNvPr id="13" name="Text 10"/>
          <p:cNvSpPr/>
          <p:nvPr/>
        </p:nvSpPr>
        <p:spPr>
          <a:xfrm>
            <a:off x="3548732" y="3993431"/>
            <a:ext cx="7752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Оглавление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96119" y="4108921"/>
            <a:ext cx="3827859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Автоматически генерируется на основе примененных стилей заголовков и динамически обновляется при изменении структуры документа.</a:t>
            </a:r>
            <a:endParaRPr lang="en-US" sz="450" dirty="0"/>
          </a:p>
        </p:txBody>
      </p:sp>
      <p:sp>
        <p:nvSpPr>
          <p:cNvPr id="15" name="Shape 12"/>
          <p:cNvSpPr/>
          <p:nvPr/>
        </p:nvSpPr>
        <p:spPr>
          <a:xfrm>
            <a:off x="4562475" y="4347121"/>
            <a:ext cx="123974" cy="9525"/>
          </a:xfrm>
          <a:prstGeom prst="roundRect">
            <a:avLst>
              <a:gd name="adj" fmla="val 976746"/>
            </a:avLst>
          </a:prstGeom>
          <a:solidFill>
            <a:srgbClr val="D4CE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548746" y="4328629"/>
            <a:ext cx="46509" cy="46509"/>
          </a:xfrm>
          <a:prstGeom prst="roundRect">
            <a:avLst>
              <a:gd name="adj" fmla="val 614397"/>
            </a:avLst>
          </a:prstGeom>
          <a:solidFill>
            <a:srgbClr val="BB5BCE"/>
          </a:solidFill>
          <a:ln/>
        </p:spPr>
      </p:sp>
      <p:sp>
        <p:nvSpPr>
          <p:cNvPr id="17" name="Text 14"/>
          <p:cNvSpPr/>
          <p:nvPr/>
        </p:nvSpPr>
        <p:spPr>
          <a:xfrm>
            <a:off x="4820022" y="4303440"/>
            <a:ext cx="7752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Колонтитулы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820022" y="4418930"/>
            <a:ext cx="3827859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Предназначены для размещения служебной информации, такой как номера страниц или название документа, которая автоматически повторяется на каждой странице.</a:t>
            </a:r>
            <a:endParaRPr lang="en-US" sz="450" dirty="0"/>
          </a:p>
        </p:txBody>
      </p:sp>
      <p:sp>
        <p:nvSpPr>
          <p:cNvPr id="19" name="Shape 16"/>
          <p:cNvSpPr/>
          <p:nvPr/>
        </p:nvSpPr>
        <p:spPr>
          <a:xfrm>
            <a:off x="4457551" y="4636815"/>
            <a:ext cx="123974" cy="9525"/>
          </a:xfrm>
          <a:prstGeom prst="roundRect">
            <a:avLst>
              <a:gd name="adj" fmla="val 976746"/>
            </a:avLst>
          </a:prstGeom>
          <a:solidFill>
            <a:srgbClr val="D4CECE"/>
          </a:solidFill>
          <a:ln/>
        </p:spPr>
      </p:sp>
      <p:sp>
        <p:nvSpPr>
          <p:cNvPr id="20" name="Shape 17"/>
          <p:cNvSpPr/>
          <p:nvPr/>
        </p:nvSpPr>
        <p:spPr>
          <a:xfrm>
            <a:off x="4548746" y="4618323"/>
            <a:ext cx="46509" cy="46509"/>
          </a:xfrm>
          <a:prstGeom prst="roundRect">
            <a:avLst>
              <a:gd name="adj" fmla="val 614397"/>
            </a:avLst>
          </a:prstGeom>
          <a:solidFill>
            <a:srgbClr val="BB5BCE"/>
          </a:solidFill>
          <a:ln/>
        </p:spPr>
      </p:sp>
      <p:sp>
        <p:nvSpPr>
          <p:cNvPr id="21" name="Text 18"/>
          <p:cNvSpPr/>
          <p:nvPr/>
        </p:nvSpPr>
        <p:spPr>
          <a:xfrm>
            <a:off x="3548732" y="4593134"/>
            <a:ext cx="7752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Номера Страниц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96119" y="4708624"/>
            <a:ext cx="382785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Интегрируются через функционал колонтитулов, предоставляя гибкие опции для выбора формата и расположения.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381074"/>
            <a:ext cx="458465" cy="199876"/>
          </a:xfrm>
          <a:prstGeom prst="roundRect">
            <a:avLst>
              <a:gd name="adj" fmla="val 6632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b5bce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3991347" y="414189"/>
            <a:ext cx="783208" cy="133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650" dirty="0">
                <a:solidFill>
                  <a:srgbClr val="BB5BC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ЧАСТЬ 1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925119" y="620241"/>
            <a:ext cx="4722763" cy="690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Microsoft Word: знакомство с интерфейсом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3925119" y="1556742"/>
            <a:ext cx="2186657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Основные элементы окна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925119" y="1827758"/>
            <a:ext cx="2476202" cy="1169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Интерфейс Microsoft Word организован логично и удобно. В верхней части окна находится строка заголовка с названием документа. Под ней располагается лента с вкладками — это главная панель инструментов, где сгруппированы все команды для работы с документом.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925119" y="3086249"/>
            <a:ext cx="2476202" cy="1641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Главная</a:t>
            </a:r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основные инструменты форматирования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Вставка</a:t>
            </a:r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добавление объектов в документ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Разметка страницы</a:t>
            </a:r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настройка полей и ориентации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Ссылки</a:t>
            </a:r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оглавления и сноски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Рецензирование</a:t>
            </a:r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проверка и комментарии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675611" y="1556742"/>
            <a:ext cx="1981870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Практическое задание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675611" y="1827758"/>
            <a:ext cx="1976958" cy="835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Запустите Microsoft Word через меню Пуск или ярлык на рабочем столе. Создайте новый пустой документ. Внимательно изучите интерфейс программы.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675611" y="2774082"/>
            <a:ext cx="1976958" cy="1235125"/>
          </a:xfrm>
          <a:prstGeom prst="roundRect">
            <a:avLst>
              <a:gd name="adj" fmla="val 13417"/>
            </a:avLst>
          </a:prstGeom>
          <a:solidFill>
            <a:srgbClr val="EFD8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42" y="2939281"/>
            <a:ext cx="138038" cy="1104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34510" y="2890242"/>
            <a:ext cx="1507629" cy="1002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Совет: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Обратите внимание на линейки по краям рабочей области и строку состояния внизу окна — они показывают важную информацию о документе.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101"/>
            <a:ext cx="6005661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Горячие клавиши — ваши помощники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11362"/>
            <a:ext cx="815176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Знание горячих клавиш значительно ускорит вашу работу. Эти комбинации работают не только в Word, но и в большинстве других программ. Запомните их и используйте постоянно!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20726"/>
            <a:ext cx="2639616" cy="125104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3819" y="1628849"/>
            <a:ext cx="144140" cy="1441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0510" y="2001366"/>
            <a:ext cx="1502122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Ctrl + C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30510" y="2258913"/>
            <a:ext cx="2370832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Копировать выделенный текст или объект в буфер обмена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2118" y="1520726"/>
            <a:ext cx="2639690" cy="12510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9818" y="1628849"/>
            <a:ext cx="144140" cy="1441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386510" y="2001366"/>
            <a:ext cx="1502122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Ctrl + V</a:t>
            </a:r>
            <a:endParaRPr lang="en-US" sz="1150" dirty="0"/>
          </a:p>
        </p:txBody>
      </p:sp>
      <p:sp>
        <p:nvSpPr>
          <p:cNvPr id="11" name="Text 5"/>
          <p:cNvSpPr/>
          <p:nvPr/>
        </p:nvSpPr>
        <p:spPr>
          <a:xfrm>
            <a:off x="3386510" y="2258913"/>
            <a:ext cx="2370906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Вставить содержимое из буфера обмена в место курсора</a:t>
            </a:r>
            <a:endParaRPr lang="en-US" sz="9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08191" y="1520726"/>
            <a:ext cx="2639690" cy="1251049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55892" y="1628849"/>
            <a:ext cx="144140" cy="1441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42583" y="2001366"/>
            <a:ext cx="1502122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Ctrl + X</a:t>
            </a:r>
            <a:endParaRPr lang="en-US" sz="1150" dirty="0"/>
          </a:p>
        </p:txBody>
      </p:sp>
      <p:sp>
        <p:nvSpPr>
          <p:cNvPr id="15" name="Text 7"/>
          <p:cNvSpPr/>
          <p:nvPr/>
        </p:nvSpPr>
        <p:spPr>
          <a:xfrm>
            <a:off x="6142583" y="2258913"/>
            <a:ext cx="2370906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Вырезать выделенный текст (копировать и удалить)</a:t>
            </a:r>
            <a:endParaRPr lang="en-US" sz="9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2888159"/>
            <a:ext cx="4017690" cy="1061814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32819" y="2996282"/>
            <a:ext cx="144140" cy="14414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30510" y="3368799"/>
            <a:ext cx="1502122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Ctrl + Z</a:t>
            </a:r>
            <a:endParaRPr lang="en-US" sz="1150" dirty="0"/>
          </a:p>
        </p:txBody>
      </p:sp>
      <p:sp>
        <p:nvSpPr>
          <p:cNvPr id="19" name="Text 9"/>
          <p:cNvSpPr/>
          <p:nvPr/>
        </p:nvSpPr>
        <p:spPr>
          <a:xfrm>
            <a:off x="630510" y="3626346"/>
            <a:ext cx="374890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Отменить последнее действие (можно нажимать несколько раз)</a:t>
            </a:r>
            <a:endParaRPr lang="en-US" sz="9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30192" y="2888159"/>
            <a:ext cx="4017690" cy="1061814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66892" y="2996282"/>
            <a:ext cx="144140" cy="14414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4764584" y="3368799"/>
            <a:ext cx="1502122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Ctrl + S</a:t>
            </a:r>
            <a:endParaRPr lang="en-US" sz="1150" dirty="0"/>
          </a:p>
        </p:txBody>
      </p:sp>
      <p:sp>
        <p:nvSpPr>
          <p:cNvPr id="23" name="Text 11"/>
          <p:cNvSpPr/>
          <p:nvPr/>
        </p:nvSpPr>
        <p:spPr>
          <a:xfrm>
            <a:off x="4764584" y="3626346"/>
            <a:ext cx="374890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Сохранить документ (используйте часто!)</a:t>
            </a:r>
            <a:endParaRPr lang="en-US" sz="900" dirty="0"/>
          </a:p>
        </p:txBody>
      </p:sp>
      <p:sp>
        <p:nvSpPr>
          <p:cNvPr id="24" name="Shape 12"/>
          <p:cNvSpPr/>
          <p:nvPr/>
        </p:nvSpPr>
        <p:spPr>
          <a:xfrm>
            <a:off x="496119" y="4080867"/>
            <a:ext cx="8151763" cy="659532"/>
          </a:xfrm>
          <a:prstGeom prst="roundRect">
            <a:avLst>
              <a:gd name="adj" fmla="val 27331"/>
            </a:avLst>
          </a:prstGeom>
          <a:solidFill>
            <a:srgbClr val="EFD8F3"/>
          </a:solidFill>
          <a:ln/>
        </p:spPr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6223" y="4249638"/>
            <a:ext cx="150168" cy="120104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86495" y="4227240"/>
            <a:ext cx="7641282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Запомните базовый алгоритм: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Чтобы отредактировать текст, нужно: выделить → применить команду (удалить/скопировать/форматировать).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0140"/>
            <a:ext cx="567288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Форматирование текста и абзацев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57697"/>
            <a:ext cx="20240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Работа со шрифтами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775520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 вкладке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«Главная»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в группе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«Шрифт»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вы найдете все необходимые инструменты для изменения внешнего вида текста.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482528"/>
            <a:ext cx="3924598" cy="1320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Выбор гарнитуры шрифта (Arial, Calibri, Times New Roman)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Размер шрифта (обычно 12–14 для основного текста, 16–18 для заголовков)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Начертание: полужирный (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Ctrl + B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), курсив (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i="1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Ctrl + I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), подчеркнутый (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u="sng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Ctrl + U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Цвет текста и выделение фона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45769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Настройка абзацев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1775520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 группе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«Абзац»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находятся инструменты для структурирования текста: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284065"/>
            <a:ext cx="3924598" cy="1122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Выравнивание: по левому краю, по центру, по правому краю, по ширине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Межстрочный интервал (одинарный, 1,5, двойной)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Отступ первой строки абзаца (1,25 см — стандарт)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Интервалы до и после абзаца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6119" y="398636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Для учебных работ используйте: шрифт Times New Roman или Arial, размер 14, межстрочный интервал 1,5, выравнивание по ширине, отступ первой строки 1,25 см.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4865"/>
            <a:ext cx="605589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Списки: структурируем информацию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00435"/>
            <a:ext cx="2717229" cy="4961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0092" y="1720528"/>
            <a:ext cx="18172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Маркированные списки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0092" y="1988790"/>
            <a:ext cx="24692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Используются для перечисления элементов, порядок которых не важен. Каждый пункт отмечается символом (точкой, галочкой, ромбом).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100435"/>
            <a:ext cx="2717229" cy="4961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37322" y="1720528"/>
            <a:ext cx="171092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Нумерованные списки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337322" y="1988790"/>
            <a:ext cx="24692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Применяются когда важна последовательность: инструкции, этапы процесса, рейтинги. Пункты нумеруются автоматически.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100435"/>
            <a:ext cx="2717229" cy="4961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54551" y="1720528"/>
            <a:ext cx="18785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Многоуровневые списки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054551" y="1988790"/>
            <a:ext cx="24692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Позволяют создавать иерархическую структуру с подпунктами. Идеальны для сложных планов и конспектов.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96119" y="3170113"/>
            <a:ext cx="216931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Практическое задание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96119" y="3487936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Создайте два списка в вашем документе: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496119" y="3798019"/>
            <a:ext cx="3924598" cy="83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Маркированный список «Мои учебные дисциплины» (5-7 предметов)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Нумерованный список «План работы над курсовым проектом» (4-5 этапов)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728046" y="3185666"/>
            <a:ext cx="3924598" cy="1079004"/>
          </a:xfrm>
          <a:prstGeom prst="roundRect">
            <a:avLst>
              <a:gd name="adj" fmla="val 17245"/>
            </a:avLst>
          </a:prstGeom>
          <a:solidFill>
            <a:srgbClr val="EFD8F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020" y="3379738"/>
            <a:ext cx="155004" cy="1239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30998" y="3328243"/>
            <a:ext cx="339767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Подсказка: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Чтобы создать список, нажмите соответствующую кнопку на вкладке «Главная» или начните абзац с «1.» для нумерованного списка или «-» для маркированного.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78321"/>
            <a:ext cx="27830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Работа с таблицами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925119" y="773683"/>
            <a:ext cx="4722763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Таблицы — мощный инструмент для организации данных. В Microsoft Word создание и форматирование таблиц интуитивно понятно и предоставляет множество возможностей для настройки внешнего вида.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25119" y="1112565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925119" y="1261095"/>
            <a:ext cx="4722763" cy="9525"/>
          </a:xfrm>
          <a:prstGeom prst="rect">
            <a:avLst/>
          </a:prstGeom>
          <a:solidFill>
            <a:srgbClr val="BB5BCE"/>
          </a:solidFill>
          <a:ln/>
        </p:spPr>
      </p:sp>
      <p:sp>
        <p:nvSpPr>
          <p:cNvPr id="7" name="Text 4"/>
          <p:cNvSpPr/>
          <p:nvPr/>
        </p:nvSpPr>
        <p:spPr>
          <a:xfrm>
            <a:off x="3925119" y="1326654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Вставка таблицы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925119" y="1513805"/>
            <a:ext cx="4722763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Перейдите на вкладку </a:t>
            </a:r>
            <a:pPr algn="l" indent="0" marL="0">
              <a:lnSpc>
                <a:spcPct val="117000"/>
              </a:lnSpc>
              <a:buNone/>
            </a:pPr>
            <a:r>
              <a:rPr lang="en-US" sz="7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«Вставка»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нажмите </a:t>
            </a:r>
            <a:pPr algn="l" indent="0" marL="0">
              <a:lnSpc>
                <a:spcPct val="117000"/>
              </a:lnSpc>
              <a:buNone/>
            </a:pPr>
            <a:r>
              <a:rPr lang="en-US" sz="7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«Таблица»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выберите нужное количество строк и столбцов (например, 3×4)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925119" y="1913706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925119" y="2062237"/>
            <a:ext cx="4722763" cy="9525"/>
          </a:xfrm>
          <a:prstGeom prst="rect">
            <a:avLst/>
          </a:prstGeom>
          <a:solidFill>
            <a:srgbClr val="BB5BCE"/>
          </a:solidFill>
          <a:ln/>
        </p:spPr>
      </p:sp>
      <p:sp>
        <p:nvSpPr>
          <p:cNvPr id="11" name="Text 8"/>
          <p:cNvSpPr/>
          <p:nvPr/>
        </p:nvSpPr>
        <p:spPr>
          <a:xfrm>
            <a:off x="3925119" y="2127796"/>
            <a:ext cx="124264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Заполнение данными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25119" y="2314947"/>
            <a:ext cx="4722763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Кликните в ячейку и начните вводить текст. Используйте Tab для перехода к следующей ячейке, Shift+Tab — для возврата к предыдущей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925119" y="2714848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925119" y="2863379"/>
            <a:ext cx="4722763" cy="9525"/>
          </a:xfrm>
          <a:prstGeom prst="rect">
            <a:avLst/>
          </a:prstGeom>
          <a:solidFill>
            <a:srgbClr val="BB5BCE"/>
          </a:solidFill>
          <a:ln/>
        </p:spPr>
      </p:sp>
      <p:sp>
        <p:nvSpPr>
          <p:cNvPr id="15" name="Text 12"/>
          <p:cNvSpPr/>
          <p:nvPr/>
        </p:nvSpPr>
        <p:spPr>
          <a:xfrm>
            <a:off x="3925119" y="2928938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Форматирование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925119" y="3116089"/>
            <a:ext cx="4722763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Выделите таблицу → появится вкладка </a:t>
            </a:r>
            <a:pPr algn="l" indent="0" marL="0">
              <a:lnSpc>
                <a:spcPct val="117000"/>
              </a:lnSpc>
              <a:buNone/>
            </a:pPr>
            <a:r>
              <a:rPr lang="en-US" sz="7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«Конструктор таблиц»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Настройте границы, заливку ячеек, стили оформления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925119" y="3515990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925119" y="3664521"/>
            <a:ext cx="4722763" cy="9525"/>
          </a:xfrm>
          <a:prstGeom prst="rect">
            <a:avLst/>
          </a:prstGeom>
          <a:solidFill>
            <a:srgbClr val="BB5BCE"/>
          </a:solidFill>
          <a:ln/>
        </p:spPr>
      </p:sp>
      <p:sp>
        <p:nvSpPr>
          <p:cNvPr id="19" name="Text 16"/>
          <p:cNvSpPr/>
          <p:nvPr/>
        </p:nvSpPr>
        <p:spPr>
          <a:xfrm>
            <a:off x="3925119" y="3730079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Выравнивание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925119" y="3917231"/>
            <a:ext cx="4722763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Выделите нужные ячейки → щелкните правой кнопкой → выберите выравнивание (по центру, по верхнему/нижнему краю)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3925119" y="4325838"/>
            <a:ext cx="4722763" cy="439341"/>
          </a:xfrm>
          <a:prstGeom prst="roundRect">
            <a:avLst>
              <a:gd name="adj" fmla="val 31764"/>
            </a:avLst>
          </a:prstGeom>
          <a:solidFill>
            <a:srgbClr val="EFD8F3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136" y="4451152"/>
            <a:ext cx="116235" cy="9301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227388" y="4418781"/>
            <a:ext cx="4327475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Практическое задание: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Создайте таблицу с вашим расписанием занятий на неделю. Первая строка — дни недели, первый столбец — время занятий.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526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19945"/>
            <a:ext cx="5673105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Вставка и оформление изображений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96119" y="2455813"/>
            <a:ext cx="232588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Добавление изображений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2746474"/>
            <a:ext cx="3512269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Визуальные элементы делают документ более привлекательным и понятным. Word позволяет вставлять изображения из различных источников.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6119" y="3385245"/>
            <a:ext cx="3512269" cy="835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9000"/>
              </a:lnSpc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Перейдите на вкладку </a:t>
            </a:r>
            <a:pPr algn="l" marL="182880" indent="-182880">
              <a:lnSpc>
                <a:spcPct val="129000"/>
              </a:lnSpc>
              <a:buSzPct val="100000"/>
              <a:buFont typeface="+mj-lt"/>
              <a:buAutoNum type="arabicPeriod" startAt="1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«Вставка»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Нажмите </a:t>
            </a:r>
            <a:pPr algn="l" marL="182880" indent="-182880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«Рисунки»</a:t>
            </a:r>
            <a:pPr algn="l" marL="182880" indent="-182880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или </a:t>
            </a:r>
            <a:pPr algn="l" marL="182880" indent="-182880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«Изображения из файла»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Выберите нужный файл на компьютере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Нажмите </a:t>
            </a:r>
            <a:pPr algn="l" marL="182880" indent="-182880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«Вставить»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96119" y="4318546"/>
            <a:ext cx="3512269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После вставки изображения появится вкладка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«Формат рисунка»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с инструментами для редактирования.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96817" y="2455813"/>
            <a:ext cx="263038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Параметры обтекания текстом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6817" y="2746474"/>
            <a:ext cx="4355753" cy="1053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 тексте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изображение как символ текста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Вокруг рамки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текст обтекает прямоугольник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 контуру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текст обтекает форму изображения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Сквозное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текст проходит через изображение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Сверху и снизу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текст только выше и ниже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6817" y="3922663"/>
            <a:ext cx="4355753" cy="614660"/>
          </a:xfrm>
          <a:prstGeom prst="roundRect">
            <a:avLst>
              <a:gd name="adj" fmla="val 28380"/>
            </a:avLst>
          </a:prstGeom>
          <a:solidFill>
            <a:srgbClr val="EFD8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052" y="4099545"/>
            <a:ext cx="145331" cy="1162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4617" y="4049762"/>
            <a:ext cx="386171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Совет: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Для учебных работ чаще используйте «Вокруг рамки» или «По контуру» — это обеспечивает аккуратный внешний вид.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6280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891680"/>
            <a:ext cx="541065" cy="233214"/>
          </a:xfrm>
          <a:prstGeom prst="roundRect">
            <a:avLst>
              <a:gd name="adj" fmla="val 63828"/>
            </a:avLst>
          </a:prstGeom>
          <a:solidFill>
            <a:srgbClr val="EFD8F3"/>
          </a:solidFill>
          <a:ln/>
        </p:spPr>
      </p:sp>
      <p:sp>
        <p:nvSpPr>
          <p:cNvPr id="4" name="Text 1"/>
          <p:cNvSpPr/>
          <p:nvPr/>
        </p:nvSpPr>
        <p:spPr>
          <a:xfrm>
            <a:off x="570533" y="1928887"/>
            <a:ext cx="84943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ВАЖНО!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2174453"/>
            <a:ext cx="415185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Сохранение документов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274803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Правильное сохранение документов — критически важный навык. Потеря несохраненной работы может стоить вам многих часов труда. Выработайте привычку сохранять документ регулярно!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96119" y="3284488"/>
            <a:ext cx="2634555" cy="1518047"/>
          </a:xfrm>
          <a:prstGeom prst="roundRect">
            <a:avLst>
              <a:gd name="adj" fmla="val 12257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5240" dir="2700000">
              <a:srgbClr val="d4cece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4855" y="341322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Первое сохранение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855" y="3681487"/>
            <a:ext cx="237708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Нажмите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Ctrl + 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или «Файл» → «Сохранить как». Выберите папку, введите имя файла (например, «Практика_Word_Иванов») и формат .docx.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54648" y="3284488"/>
            <a:ext cx="2634630" cy="1518047"/>
          </a:xfrm>
          <a:prstGeom prst="roundRect">
            <a:avLst>
              <a:gd name="adj" fmla="val 12257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5240" dir="2700000">
              <a:srgbClr val="d4cece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384" y="3413224"/>
            <a:ext cx="180193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Регулярное сохранение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83384" y="3681487"/>
            <a:ext cx="237715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Нажимайте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Ctrl + 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каждые 5-10 минут работы. Word также автоматически сохраняет копии, но не полагайтесь только на это.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13252" y="3284488"/>
            <a:ext cx="2634555" cy="1518047"/>
          </a:xfrm>
          <a:prstGeom prst="roundRect">
            <a:avLst>
              <a:gd name="adj" fmla="val 12257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5240" dir="2700000">
              <a:srgbClr val="d4cece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41988" y="341322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Экспорт в PDF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41988" y="3681487"/>
            <a:ext cx="237708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Для отправки работы преподавателю используйте «Файл» → «Сохранить как» → выберите формат PDF. Это гарантирует, что форматирование не собьется.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EEE8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1059" y="1512391"/>
            <a:ext cx="3115717" cy="211871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359494"/>
            <a:ext cx="491430" cy="209178"/>
          </a:xfrm>
          <a:prstGeom prst="roundRect">
            <a:avLst>
              <a:gd name="adj" fmla="val 65603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bb5bce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64728" y="393799"/>
            <a:ext cx="811411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BB5BC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ЧАСТЬ 2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96119" y="610791"/>
            <a:ext cx="4938415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Google Docs: облачный редактор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96119" y="1231627"/>
            <a:ext cx="2309068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Преимущества Google Docs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1515666"/>
            <a:ext cx="2221929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Google Docs — это бесплатный облачный текстовый редактор, который работает в браузере. Его главные преимущества: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6119" y="2138065"/>
            <a:ext cx="2221929" cy="2609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Автоматическое сохранение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изменения сохраняются каждые несколько секунд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Доступ с любого устройства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работайте с компьютера, планшета или телефона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Совместное редактирование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несколько человек могут работать одновременно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История версий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можно откатиться к любой предыдущей версии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Не требует установки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достаточно браузера и интернета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001714" y="1231627"/>
            <a:ext cx="18866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Как начать работу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01714" y="1515666"/>
            <a:ext cx="2221929" cy="1341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8000"/>
              </a:lnSpc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Зайдите в свою учетную запись Gmail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Откройте Google Диск: </a:t>
            </a:r>
            <a:pPr algn="l" marL="182880" indent="-182880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900" b="1" u="sng" dirty="0">
                <a:solidFill>
                  <a:srgbClr val="BB5BC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Нажмите кнопку </a:t>
            </a:r>
            <a:pPr algn="l" marL="182880" indent="-182880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«Создать»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Выберите </a:t>
            </a:r>
            <a:pPr algn="l" marL="182880" indent="-18288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«Google Документы»</a:t>
            </a:r>
            <a:pPr algn="l" marL="182880" indent="-18288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</a:t>
            </a:r>
            <a:pPr algn="l" marL="182880" indent="-18288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«Пустой документ»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001714" y="2951931"/>
            <a:ext cx="2221929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Или перейдите напрямую по адресу docs.google.com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355"/>
            <a:ext cx="730277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Интерфейс и базовые операции в Google Docs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6992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Интерфейс Google Docs очень похож на Microsoft Word, поэтому освоить его будет легко. Основные отличия связаны с облачной природой сервиса.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06376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07146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Автосохранение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339727"/>
            <a:ext cx="261386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 Google Docs нет кнопки «Сохранить» — документ сохраняется автоматически после каждого изменения. Статус сохранения отображается рядом с названием.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1606376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991" y="207146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Горячие клавиши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64991" y="2339727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Все знакомые комбинации работают так же: Ctrl+C (копировать), Ctrl+V (вставить), Ctrl+Z (отменить), Ctrl+B (полужирный).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3939" y="1606376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3939" y="2071464"/>
            <a:ext cx="166561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Панель инструментов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33939" y="2339727"/>
            <a:ext cx="261394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Основные инструменты форматирования расположены на панели вверху. Дополнительные функции находятся в меню «Формат» и «Вставка».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96119" y="3502521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2A2742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496119" y="3733800"/>
            <a:ext cx="216931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Практическое задание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96119" y="4113684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Создайте документ в Google Docs с заголовком «Мой учебный план». Введите несколько абзацев текста. Отформатируйте заголовок (полужирный, размер 18) и основной текст (выравнивание по ширине, интервал 1,5). Создайте нумерованный список «Мои цели на семестр» из 5 пунктов.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4005"/>
            <a:ext cx="6696149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Совместная работа — главное преимущество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42156"/>
            <a:ext cx="81517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Возможность совместного редактирования — это то, что делает Google Docs незаменимым инструментом для групповых проектов и командной работы.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2639169"/>
            <a:ext cx="8151763" cy="14288"/>
          </a:xfrm>
          <a:prstGeom prst="roundRect">
            <a:avLst>
              <a:gd name="adj" fmla="val 1200538"/>
            </a:avLst>
          </a:prstGeom>
          <a:solidFill>
            <a:srgbClr val="D4CECE"/>
          </a:solidFill>
          <a:ln/>
        </p:spPr>
      </p:sp>
      <p:sp>
        <p:nvSpPr>
          <p:cNvPr id="5" name="Shape 3"/>
          <p:cNvSpPr/>
          <p:nvPr/>
        </p:nvSpPr>
        <p:spPr>
          <a:xfrm>
            <a:off x="2079724" y="2296158"/>
            <a:ext cx="14288" cy="343049"/>
          </a:xfrm>
          <a:prstGeom prst="roundRect">
            <a:avLst>
              <a:gd name="adj" fmla="val 1200538"/>
            </a:avLst>
          </a:prstGeom>
          <a:solidFill>
            <a:srgbClr val="D4CECE"/>
          </a:solidFill>
          <a:ln/>
        </p:spPr>
      </p:sp>
      <p:sp>
        <p:nvSpPr>
          <p:cNvPr id="6" name="Shape 4"/>
          <p:cNvSpPr/>
          <p:nvPr/>
        </p:nvSpPr>
        <p:spPr>
          <a:xfrm>
            <a:off x="1958280" y="2510544"/>
            <a:ext cx="257249" cy="257249"/>
          </a:xfrm>
          <a:prstGeom prst="roundRect">
            <a:avLst>
              <a:gd name="adj" fmla="val 66680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3970" dir="2700000">
              <a:srgbClr val="d4cece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01106" y="2531938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2195" y="1412379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Настройка доступа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0419" y="1654299"/>
            <a:ext cx="2953048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Нажмите кнопку </a:t>
            </a:r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«Настройки доступа»</a:t>
            </a:r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в правом верхнем углу. Выберите, кто может видеть документ: конкретные люди или все, у кого есть ссылка.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36404" y="2639132"/>
            <a:ext cx="14288" cy="343049"/>
          </a:xfrm>
          <a:prstGeom prst="roundRect">
            <a:avLst>
              <a:gd name="adj" fmla="val 1200538"/>
            </a:avLst>
          </a:prstGeom>
          <a:solidFill>
            <a:srgbClr val="D4CECE"/>
          </a:solidFill>
          <a:ln/>
        </p:spPr>
      </p:sp>
      <p:sp>
        <p:nvSpPr>
          <p:cNvPr id="11" name="Shape 9"/>
          <p:cNvSpPr/>
          <p:nvPr/>
        </p:nvSpPr>
        <p:spPr>
          <a:xfrm>
            <a:off x="3614961" y="2510544"/>
            <a:ext cx="257249" cy="257249"/>
          </a:xfrm>
          <a:prstGeom prst="roundRect">
            <a:avLst>
              <a:gd name="adj" fmla="val 66680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3970" dir="2700000">
              <a:srgbClr val="d4cece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786" y="2531938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28876" y="3096518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Уровни доступа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67099" y="3338438"/>
            <a:ext cx="2953048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Установите права: </a:t>
            </a:r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«Читатель»</a:t>
            </a:r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(только просмотр), </a:t>
            </a:r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«Комментатор»</a:t>
            </a:r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(просмотр и комментарии) или </a:t>
            </a:r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«Редактор»</a:t>
            </a:r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(полное редактирование).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3085" y="2296158"/>
            <a:ext cx="14288" cy="343049"/>
          </a:xfrm>
          <a:prstGeom prst="roundRect">
            <a:avLst>
              <a:gd name="adj" fmla="val 1200538"/>
            </a:avLst>
          </a:prstGeom>
          <a:solidFill>
            <a:srgbClr val="D4CECE"/>
          </a:solidFill>
          <a:ln/>
        </p:spPr>
      </p:sp>
      <p:sp>
        <p:nvSpPr>
          <p:cNvPr id="16" name="Shape 14"/>
          <p:cNvSpPr/>
          <p:nvPr/>
        </p:nvSpPr>
        <p:spPr>
          <a:xfrm>
            <a:off x="5271641" y="2510544"/>
            <a:ext cx="257249" cy="257249"/>
          </a:xfrm>
          <a:prstGeom prst="roundRect">
            <a:avLst>
              <a:gd name="adj" fmla="val 66680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3970" dir="2700000">
              <a:srgbClr val="d4cece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14466" y="2531938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85556" y="1412379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Комментарии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23779" y="1654299"/>
            <a:ext cx="2953048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Выделите текст → нажмите </a:t>
            </a:r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Ctrl+Alt+M</a:t>
            </a:r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или «Вставка» → «Комментарий». Оставьте замечание или вопрос для коллег.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49765" y="2639132"/>
            <a:ext cx="14288" cy="343049"/>
          </a:xfrm>
          <a:prstGeom prst="roundRect">
            <a:avLst>
              <a:gd name="adj" fmla="val 1200538"/>
            </a:avLst>
          </a:prstGeom>
          <a:solidFill>
            <a:srgbClr val="D4CECE"/>
          </a:solidFill>
          <a:ln/>
        </p:spPr>
      </p:sp>
      <p:sp>
        <p:nvSpPr>
          <p:cNvPr id="21" name="Shape 19"/>
          <p:cNvSpPr/>
          <p:nvPr/>
        </p:nvSpPr>
        <p:spPr>
          <a:xfrm>
            <a:off x="6928321" y="2510544"/>
            <a:ext cx="257249" cy="257249"/>
          </a:xfrm>
          <a:prstGeom prst="roundRect">
            <a:avLst>
              <a:gd name="adj" fmla="val 66680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3970" dir="2700000">
              <a:srgbClr val="d4cece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71147" y="2531938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4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27577" y="3096518"/>
            <a:ext cx="145873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Режим предложений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80459" y="3338438"/>
            <a:ext cx="2953048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Переключитесь в режим </a:t>
            </a:r>
            <a:pPr algn="ctr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«Предлагать изменения»</a:t>
            </a:r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через меню справа вверху. Ваши правки будут отображаться как предложения, которые можно принять или отклонить.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6119" y="4160341"/>
            <a:ext cx="8151763" cy="609079"/>
          </a:xfrm>
          <a:prstGeom prst="roundRect">
            <a:avLst>
              <a:gd name="adj" fmla="val 28163"/>
            </a:avLst>
          </a:prstGeom>
          <a:solidFill>
            <a:srgbClr val="EFD8F3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419" y="4317504"/>
            <a:ext cx="142875" cy="1143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67594" y="4294287"/>
            <a:ext cx="766598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Важно для безопасности: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При работе с конфиденциальными документами не используйте опцию «Все, у кого есть ссылка». Добавляйте пользователей по email адресам.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7846"/>
            <a:ext cx="4962302" cy="33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Комплексная практическая работа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04131"/>
            <a:ext cx="8151763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Теперь пришло время применить все полученные знания на практике. Вы создадите один и тот же документ в обоих редакторах, что поможет закрепить навыки и увидеть особенности каждой программы.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24273"/>
            <a:ext cx="8151763" cy="17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1300" y="2106885"/>
            <a:ext cx="15984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28402" y="1445121"/>
            <a:ext cx="1771576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Создание документа в Word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8402" y="1666577"/>
            <a:ext cx="7498631" cy="1302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Создайте новый документ «Мой учебный план»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Добавьте заголовок и 2-3 абзаца описательного текста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Создайте маркированный список учебных дисциплин (5-7 предметов)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Создайте нумерованный список задач на семестр (4-5 пунктов)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Вставьте таблицу 3×4 с названиями дисциплин и количеством часов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Добавьте одно изображение с обтеканием текстом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Сохраните файл как «Практика_Word_ФИО.docx»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81052"/>
            <a:ext cx="8151763" cy="15746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1300" y="3868415"/>
            <a:ext cx="159841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028402" y="3301901"/>
            <a:ext cx="2190973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Создание документа в Google Docs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28402" y="3523357"/>
            <a:ext cx="7498631" cy="111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Создайте документ с тем же содержанием и структурой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Оформите заголовки, списки и таблицу аналогично Word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Вставьте изображение (можно загрузить с компьютера или найти в интернете)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Настройте совместный доступ: «По ссылке могут просматривать»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Добавьте как минимум один комментарий к любому абзацу</a:t>
            </a:r>
            <a:endParaRPr lang="en-US" sz="800" dirty="0"/>
          </a:p>
          <a:p>
            <a:pPr algn="l" marL="162560" indent="-16256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Экспортируйте документ в PDF: «Файл» → «Скачать» → «PDF»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9017"/>
            <a:ext cx="622369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Критерии оценки и полезные ресурсы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06575"/>
            <a:ext cx="274900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Критерии оценивания работы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724397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Ваша практическая работа будет оцениваться по следующим параметрам: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232943"/>
            <a:ext cx="3924598" cy="2158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Структура документа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наличие всех требуемых элементов: заголовка, абзацев, списков, таблицы, изображения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Качество форматирования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аккуратность оформления, правильные шрифты, выравнивание, интервалы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Работа с объектами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корректное оформление таблиц и изображений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Google Docs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настроенный доступ и наличие комментариев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Общая аккуратность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профессиональный внешний вид документа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406575"/>
            <a:ext cx="25224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Рекомендуемые источники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1724397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Методические материалы: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034480"/>
            <a:ext cx="3924598" cy="440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u="sng" dirty="0">
                <a:solidFill>
                  <a:srgbClr val="BB5BC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УМК «Текстовый процессор Microsoft Word»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u="sng" dirty="0">
                <a:solidFill>
                  <a:srgbClr val="BB5BC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Материалы по Microsoft Office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2586410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Руководства по Google Docs: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2896493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u="sng" dirty="0">
                <a:solidFill>
                  <a:srgbClr val="BB5BC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Полное руководство по Google Docs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u="sng" dirty="0">
                <a:solidFill>
                  <a:srgbClr val="BB5BC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Подробная инструкция со скриншотами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Официальная справка Google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40197"/>
            <a:ext cx="1354857" cy="233214"/>
          </a:xfrm>
          <a:prstGeom prst="roundRect">
            <a:avLst>
              <a:gd name="adj" fmla="val 63828"/>
            </a:avLst>
          </a:prstGeom>
          <a:solidFill>
            <a:srgbClr val="EFD8F3"/>
          </a:solidFill>
          <a:ln/>
        </p:spPr>
      </p:sp>
      <p:sp>
        <p:nvSpPr>
          <p:cNvPr id="3" name="Shape 1"/>
          <p:cNvSpPr/>
          <p:nvPr/>
        </p:nvSpPr>
        <p:spPr>
          <a:xfrm>
            <a:off x="570533" y="807169"/>
            <a:ext cx="99194" cy="99194"/>
          </a:xfrm>
          <a:prstGeom prst="rect">
            <a:avLst/>
          </a:prstGeom>
          <a:solidFill>
            <a:srgbClr val="2A2742"/>
          </a:solidFill>
          <a:ln/>
        </p:spPr>
      </p:sp>
      <p:sp>
        <p:nvSpPr>
          <p:cNvPr id="4" name="Text 2"/>
          <p:cNvSpPr/>
          <p:nvPr/>
        </p:nvSpPr>
        <p:spPr>
          <a:xfrm>
            <a:off x="719286" y="777404"/>
            <a:ext cx="151447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ДОМАШНЕЕ ЗАДАНИЕ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1022970"/>
            <a:ext cx="413638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Закрепление материала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96119" y="1596554"/>
            <a:ext cx="8151763" cy="1518047"/>
          </a:xfrm>
          <a:prstGeom prst="roundRect">
            <a:avLst>
              <a:gd name="adj" fmla="val 12257"/>
            </a:avLst>
          </a:prstGeom>
          <a:solidFill>
            <a:srgbClr val="EEE8E8"/>
          </a:solidFill>
          <a:ln w="4763">
            <a:solidFill>
              <a:srgbClr val="D4CECE"/>
            </a:solidFill>
            <a:prstDash val="solid"/>
          </a:ln>
          <a:effectLst>
            <a:outerShdw sx="100000" sy="100000" kx="0" ky="0" algn="bl" rotWithShape="0" blurRad="101600" dist="15240" dir="2700000">
              <a:srgbClr val="d4cece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0881" y="1601316"/>
            <a:ext cx="2714030" cy="1508522"/>
          </a:xfrm>
          <a:prstGeom prst="rect">
            <a:avLst/>
          </a:prstGeom>
          <a:solidFill>
            <a:srgbClr val="EEE8E8"/>
          </a:solidFill>
          <a:ln/>
        </p:spPr>
      </p:sp>
      <p:sp>
        <p:nvSpPr>
          <p:cNvPr id="8" name="Text 6"/>
          <p:cNvSpPr/>
          <p:nvPr/>
        </p:nvSpPr>
        <p:spPr>
          <a:xfrm>
            <a:off x="624855" y="172529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Изучение ресурсов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4855" y="1993553"/>
            <a:ext cx="246608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Выберите один из рекомендованных ресурсов (по Word или Google Docs) и изучите один раздел, который показался вам наиболее интересным или полезным.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4911" y="1601316"/>
            <a:ext cx="2714104" cy="1508522"/>
          </a:xfrm>
          <a:prstGeom prst="rect">
            <a:avLst/>
          </a:prstGeom>
          <a:solidFill>
            <a:srgbClr val="EEE8E8"/>
          </a:solidFill>
          <a:ln/>
        </p:spPr>
      </p:sp>
      <p:sp>
        <p:nvSpPr>
          <p:cNvPr id="11" name="Shape 9"/>
          <p:cNvSpPr/>
          <p:nvPr/>
        </p:nvSpPr>
        <p:spPr>
          <a:xfrm>
            <a:off x="3214911" y="1601316"/>
            <a:ext cx="14288" cy="1508522"/>
          </a:xfrm>
          <a:prstGeom prst="roundRect">
            <a:avLst>
              <a:gd name="adj" fmla="val 1302278"/>
            </a:avLst>
          </a:prstGeom>
          <a:solidFill>
            <a:srgbClr val="D4CECE"/>
          </a:solidFill>
          <a:ln/>
        </p:spPr>
      </p:sp>
      <p:sp>
        <p:nvSpPr>
          <p:cNvPr id="12" name="Text 10"/>
          <p:cNvSpPr/>
          <p:nvPr/>
        </p:nvSpPr>
        <p:spPr>
          <a:xfrm>
            <a:off x="3338885" y="1725290"/>
            <a:ext cx="20511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Практическое применение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8885" y="1993553"/>
            <a:ext cx="246615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Попробуйте применить изученные команды и функции на практике. Создайте тестовый документ и поэкспериментируйте с новыми возможностями.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29015" y="1601316"/>
            <a:ext cx="2714104" cy="1508522"/>
          </a:xfrm>
          <a:prstGeom prst="rect">
            <a:avLst/>
          </a:prstGeom>
          <a:solidFill>
            <a:srgbClr val="EEE8E8"/>
          </a:solidFill>
          <a:ln/>
        </p:spPr>
      </p:sp>
      <p:sp>
        <p:nvSpPr>
          <p:cNvPr id="15" name="Shape 13"/>
          <p:cNvSpPr/>
          <p:nvPr/>
        </p:nvSpPr>
        <p:spPr>
          <a:xfrm>
            <a:off x="5929015" y="1601316"/>
            <a:ext cx="14288" cy="1508522"/>
          </a:xfrm>
          <a:prstGeom prst="roundRect">
            <a:avLst>
              <a:gd name="adj" fmla="val 1302278"/>
            </a:avLst>
          </a:prstGeom>
          <a:solidFill>
            <a:srgbClr val="D4CECE"/>
          </a:solidFill>
          <a:ln/>
        </p:spPr>
      </p:sp>
      <p:sp>
        <p:nvSpPr>
          <p:cNvPr id="16" name="Text 14"/>
          <p:cNvSpPr/>
          <p:nvPr/>
        </p:nvSpPr>
        <p:spPr>
          <a:xfrm>
            <a:off x="6052989" y="172529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Конспект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52989" y="1993553"/>
            <a:ext cx="246615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Сделайте краткую выжимку (0,5–1 страница) с описанием изученного раздела и примерами команд. Подготовьтесь рассказать об этом на следующем занятии.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6119" y="3285083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2A2742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6119" y="3469853"/>
            <a:ext cx="8151763" cy="933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Рекомендуемые темы для изучения: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работа со стилями и форматированием, создание оглавлений, использование шаблонов, совместный доступ и комментирование, история версий документа, работа с колонтитулами и номерами страниц.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Помните: регулярная практика — ключ к уверенному владению текстовыми редакторами. Используйте полученные навыки при подготовке учебных работ!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BB5BC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2026-06-26T11:10:13Z</dcterms:created>
  <dcterms:modified xsi:type="dcterms:W3CDTF">2026-06-26T11:10:13Z</dcterms:modified>
</cp:coreProperties>
</file>